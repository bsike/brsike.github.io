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94cf052f5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94cf052f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bcecb5f4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bcecb5f4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94cf052f5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c94cf052f5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906df53b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906df53b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bcecb5f4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bcecb5f4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cd80f264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0cd80f264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bcecb5f4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bcecb5f4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a85d7b33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a85d7b33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cd80f264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0cd80f264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d80f264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cd80f264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d30a0007a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d30a0007a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d7b8ec3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d7b8ec3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296250"/>
            <a:ext cx="8222100" cy="24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390525" y="340138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b="1"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8" name="Google Shape;48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astro.brsike.com/aas20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178600" y="282400"/>
            <a:ext cx="5054700" cy="33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Too Hot, Too Cold, or Just Right? Simulating Cosmic Ray-Driven Galactic Winds with Resolved ISM and Ion-Neutral Damping</a:t>
            </a:r>
            <a:endParaRPr sz="3600"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230350" y="3730125"/>
            <a:ext cx="5103600" cy="9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Brandon Sike</a:t>
            </a:r>
            <a:r>
              <a:rPr lang="en" sz="1100"/>
              <a:t> (UM), </a:t>
            </a:r>
            <a:r>
              <a:rPr lang="en" sz="1100"/>
              <a:t>Mateusz Ruszkowski (UM), </a:t>
            </a:r>
            <a:r>
              <a:rPr lang="en" sz="1100"/>
              <a:t>Christoph Pfrommer (AIP), Timon Thomas (AIP), Matthias Weber (AIP), Peng Oh (UCSB), Oleg Gnedin (UM), Bill Chen (UM), with funding from NSF, ACCESS, NASA, and UM</a:t>
            </a:r>
            <a:endParaRPr sz="1100"/>
          </a:p>
        </p:txBody>
      </p:sp>
      <p:sp>
        <p:nvSpPr>
          <p:cNvPr id="70" name="Google Shape;70;p13"/>
          <p:cNvSpPr txBox="1"/>
          <p:nvPr>
            <p:ph idx="2" type="subTitle"/>
          </p:nvPr>
        </p:nvSpPr>
        <p:spPr>
          <a:xfrm>
            <a:off x="154150" y="4675825"/>
            <a:ext cx="48183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AAS 245 Winter; January 14, 2025</a:t>
            </a:r>
            <a:endParaRPr sz="800"/>
          </a:p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3">
            <a:alphaModFix/>
          </a:blip>
          <a:srcRect b="26185" l="0" r="0" t="25704"/>
          <a:stretch/>
        </p:blipFill>
        <p:spPr>
          <a:xfrm>
            <a:off x="5346650" y="0"/>
            <a:ext cx="13364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 rotWithShape="1">
          <a:blip r:embed="rId4">
            <a:alphaModFix/>
          </a:blip>
          <a:srcRect b="21955" l="56944" r="30324" t="29046"/>
          <a:stretch/>
        </p:blipFill>
        <p:spPr>
          <a:xfrm flipH="1">
            <a:off x="6822572" y="0"/>
            <a:ext cx="133642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3"/>
          <p:cNvCxnSpPr/>
          <p:nvPr/>
        </p:nvCxnSpPr>
        <p:spPr>
          <a:xfrm>
            <a:off x="408325" y="3671025"/>
            <a:ext cx="4427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Cosmic Rays in Galaxies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167100" y="1919075"/>
            <a:ext cx="4100100" cy="26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Relativistic, charged particles which behave as a fluid over galactic scales.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Equipartition with other energy densities in the ISM.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Provide a source of </a:t>
            </a:r>
            <a:r>
              <a:rPr b="1" lang="en" sz="1400"/>
              <a:t>pressure</a:t>
            </a:r>
            <a:r>
              <a:rPr lang="en" sz="1400"/>
              <a:t>, contribute to heating, drive molecular chemistry, trace magnetic field topology.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Notably, </a:t>
            </a:r>
            <a:r>
              <a:rPr b="1" lang="en" sz="1400"/>
              <a:t>cosmic rays can exchange momentum and energy with the gas</a:t>
            </a:r>
            <a:r>
              <a:rPr lang="en" sz="1400"/>
              <a:t> </a:t>
            </a:r>
            <a:r>
              <a:rPr b="1" lang="en" sz="1400"/>
              <a:t>over long time and distance scales.</a:t>
            </a:r>
            <a:endParaRPr sz="1400"/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6997" y="1817200"/>
            <a:ext cx="3155753" cy="241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5437000" y="4228725"/>
            <a:ext cx="3121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Ryden &amp; Pogge: Interstellar and Intergalactic Medium (2021) with data adapted from Draine (2011), with cosmic ray data from Voyager measurements (Webber &amp; Yushak 1983).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5482925" y="3652400"/>
            <a:ext cx="2672100" cy="20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 Transport: Ion-neutral damping</a:t>
            </a:r>
            <a:endParaRPr/>
          </a:p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idx="4294967295" type="body"/>
          </p:nvPr>
        </p:nvSpPr>
        <p:spPr>
          <a:xfrm>
            <a:off x="460950" y="813797"/>
            <a:ext cx="82221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Ion neutral damping (IND) is ~frictional loss from self-confining Alfvén waves by ion/neutral collisions. The loss of these self-confining Alfvén waves </a:t>
            </a:r>
            <a:r>
              <a:rPr b="1" lang="en" sz="1500"/>
              <a:t>decouples CRs from neutral regions</a:t>
            </a:r>
            <a:r>
              <a:rPr lang="en" sz="1500"/>
              <a:t>.</a:t>
            </a:r>
            <a:endParaRPr sz="1500"/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069025"/>
            <a:ext cx="3474675" cy="25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275" y="2069025"/>
            <a:ext cx="3474675" cy="254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5"/>
          <p:cNvCxnSpPr/>
          <p:nvPr/>
        </p:nvCxnSpPr>
        <p:spPr>
          <a:xfrm>
            <a:off x="3829600" y="3605500"/>
            <a:ext cx="1317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5"/>
          <p:cNvSpPr txBox="1"/>
          <p:nvPr/>
        </p:nvSpPr>
        <p:spPr>
          <a:xfrm>
            <a:off x="3917675" y="3142763"/>
            <a:ext cx="1145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Add IND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" name="Google Shape;95;p15"/>
          <p:cNvCxnSpPr/>
          <p:nvPr/>
        </p:nvCxnSpPr>
        <p:spPr>
          <a:xfrm>
            <a:off x="792150" y="2689750"/>
            <a:ext cx="803100" cy="142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5"/>
          <p:cNvCxnSpPr/>
          <p:nvPr/>
        </p:nvCxnSpPr>
        <p:spPr>
          <a:xfrm flipH="1">
            <a:off x="2462700" y="2661325"/>
            <a:ext cx="895500" cy="14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5"/>
          <p:cNvCxnSpPr/>
          <p:nvPr/>
        </p:nvCxnSpPr>
        <p:spPr>
          <a:xfrm>
            <a:off x="792150" y="3908950"/>
            <a:ext cx="803100" cy="142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5"/>
          <p:cNvCxnSpPr/>
          <p:nvPr/>
        </p:nvCxnSpPr>
        <p:spPr>
          <a:xfrm flipH="1">
            <a:off x="2462700" y="3880525"/>
            <a:ext cx="895500" cy="149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5"/>
          <p:cNvCxnSpPr/>
          <p:nvPr/>
        </p:nvCxnSpPr>
        <p:spPr>
          <a:xfrm>
            <a:off x="5668950" y="2689750"/>
            <a:ext cx="803100" cy="142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5"/>
          <p:cNvCxnSpPr/>
          <p:nvPr/>
        </p:nvCxnSpPr>
        <p:spPr>
          <a:xfrm flipH="1">
            <a:off x="7339500" y="2661325"/>
            <a:ext cx="895500" cy="14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5"/>
          <p:cNvSpPr txBox="1"/>
          <p:nvPr/>
        </p:nvSpPr>
        <p:spPr>
          <a:xfrm>
            <a:off x="6741700" y="3926575"/>
            <a:ext cx="454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Questions: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does CR feedback affect the steady-state SFR and galactic outflow?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do CRs interact with multiphase gas in the wind?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u="sng"/>
              <a:t>Does ion-neutral damping prevent CRs from providing effective feedback?</a:t>
            </a:r>
            <a:endParaRPr b="1" u="sng"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Model: ISM Tallbox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Use AREPO (Springel 2010)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1 kpc * 1 kpc * 8 kpc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Σgas = 10 Msun / pc^2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10 Msun resolution in the ISM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~3 pc resolution in the wind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Live MHD, stellar feedback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Nonequilibrium ionization model CRISP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Two-moment CR transport model following self-confined behavior</a:t>
            </a:r>
            <a:endParaRPr/>
          </a:p>
        </p:txBody>
      </p:sp>
      <p:grpSp>
        <p:nvGrpSpPr>
          <p:cNvPr id="115" name="Google Shape;115;p17"/>
          <p:cNvGrpSpPr/>
          <p:nvPr/>
        </p:nvGrpSpPr>
        <p:grpSpPr>
          <a:xfrm>
            <a:off x="7303650" y="160050"/>
            <a:ext cx="1327425" cy="4823400"/>
            <a:chOff x="7608450" y="160050"/>
            <a:chExt cx="1327425" cy="4823400"/>
          </a:xfrm>
        </p:grpSpPr>
        <p:sp>
          <p:nvSpPr>
            <p:cNvPr id="116" name="Google Shape;116;p17"/>
            <p:cNvSpPr/>
            <p:nvPr/>
          </p:nvSpPr>
          <p:spPr>
            <a:xfrm>
              <a:off x="7608450" y="2467650"/>
              <a:ext cx="1327200" cy="203400"/>
            </a:xfrm>
            <a:prstGeom prst="parallelogram">
              <a:avLst>
                <a:gd fmla="val 171687" name="adj"/>
              </a:avLst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7608450" y="355700"/>
              <a:ext cx="980400" cy="23076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8" name="Google Shape;118;p17"/>
            <p:cNvCxnSpPr/>
            <p:nvPr/>
          </p:nvCxnSpPr>
          <p:spPr>
            <a:xfrm rot="10800000">
              <a:off x="8935650" y="160050"/>
              <a:ext cx="0" cy="230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17"/>
            <p:cNvCxnSpPr/>
            <p:nvPr/>
          </p:nvCxnSpPr>
          <p:spPr>
            <a:xfrm rot="10800000">
              <a:off x="7960225" y="160050"/>
              <a:ext cx="0" cy="230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0" name="Google Shape;120;p17"/>
            <p:cNvSpPr/>
            <p:nvPr/>
          </p:nvSpPr>
          <p:spPr>
            <a:xfrm>
              <a:off x="7608450" y="160050"/>
              <a:ext cx="1327200" cy="203400"/>
            </a:xfrm>
            <a:prstGeom prst="parallelogram">
              <a:avLst>
                <a:gd fmla="val 171687" name="adj"/>
              </a:avLst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7608450" y="2663300"/>
              <a:ext cx="980400" cy="23076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2" name="Google Shape;122;p17"/>
            <p:cNvCxnSpPr/>
            <p:nvPr/>
          </p:nvCxnSpPr>
          <p:spPr>
            <a:xfrm rot="10800000">
              <a:off x="8935650" y="2467650"/>
              <a:ext cx="0" cy="230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7960225" y="2467650"/>
              <a:ext cx="0" cy="230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17"/>
            <p:cNvCxnSpPr/>
            <p:nvPr/>
          </p:nvCxnSpPr>
          <p:spPr>
            <a:xfrm flipH="1" rot="10800000">
              <a:off x="8588775" y="4769675"/>
              <a:ext cx="347100" cy="208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17"/>
            <p:cNvCxnSpPr/>
            <p:nvPr/>
          </p:nvCxnSpPr>
          <p:spPr>
            <a:xfrm flipH="1" rot="10800000">
              <a:off x="7608450" y="4775250"/>
              <a:ext cx="347100" cy="208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7964125" y="4778350"/>
              <a:ext cx="971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17908" l="11371" r="15029" t="7719"/>
          <a:stretch/>
        </p:blipFill>
        <p:spPr>
          <a:xfrm>
            <a:off x="3973400" y="680488"/>
            <a:ext cx="2567949" cy="263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 rotWithShape="1">
          <a:blip r:embed="rId4">
            <a:alphaModFix/>
          </a:blip>
          <a:srcRect b="14275" l="0" r="0" t="13334"/>
          <a:stretch/>
        </p:blipFill>
        <p:spPr>
          <a:xfrm>
            <a:off x="3973400" y="3722333"/>
            <a:ext cx="2567949" cy="74067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5665125" y="2176350"/>
            <a:ext cx="273900" cy="270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60550" y="3808550"/>
            <a:ext cx="178500" cy="590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973400" y="3317850"/>
            <a:ext cx="256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Face-on spiral galaxy NGC 3982, NASA, ESA, and the Hubble Heritage Team (STScI/AURA)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973375" y="4473900"/>
            <a:ext cx="256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Edge-on spiral galaxy NGC 5907, ESA/Hubble &amp; NASA, R. de Jong. Acknowledgement: Judy Schmidt (Geckzilla)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Cases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(“MHD”): No CRs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(“CRMHD”): Add CRs with </a:t>
            </a:r>
            <a:r>
              <a:rPr b="1" lang="en"/>
              <a:t>u</a:t>
            </a:r>
            <a:r>
              <a:rPr b="1" lang="en"/>
              <a:t>niform coupling of CRs to gas.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(“CRMHD+IND”): Add ion-neutral damping; </a:t>
            </a:r>
            <a:r>
              <a:rPr b="1" lang="en"/>
              <a:t>CRs decouple from neutral gas.</a:t>
            </a:r>
            <a:endParaRPr b="1"/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460950" y="7699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35725"/>
            <a:ext cx="7873150" cy="209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328575"/>
            <a:ext cx="5867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Produce a variety of multiphase galactic winds and ISMs.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Immediate visual differences between the three cases, primarily in the wind but also in the ISM.</a:t>
            </a:r>
            <a:endParaRPr/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55" name="Google Shape;155;p2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Slices</a:t>
            </a: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700" y="0"/>
            <a:ext cx="467635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MHD is the hottest; supernovae-driven.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CRs in CR-NL can couple to cold gas in the wind, CRs in CR-NL-IN cannot.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CRs make the wind colder, IND</a:t>
            </a:r>
            <a:r>
              <a:rPr b="1" lang="en"/>
              <a:t> makes the wind moderately warmer</a:t>
            </a:r>
            <a:r>
              <a:rPr lang="en"/>
              <a:t>.</a:t>
            </a:r>
            <a:endParaRPr/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Temperature Profiles</a:t>
            </a:r>
            <a:endParaRPr/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7475" y="152400"/>
            <a:ext cx="506551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Forming Conditions</a:t>
            </a:r>
            <a:endParaRPr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6100" y="1029550"/>
            <a:ext cx="1898174" cy="138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6100" y="2908234"/>
            <a:ext cx="1898174" cy="13881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2"/>
          <p:cNvCxnSpPr>
            <a:stCxn id="174" idx="1"/>
            <a:endCxn id="172" idx="0"/>
          </p:cNvCxnSpPr>
          <p:nvPr/>
        </p:nvCxnSpPr>
        <p:spPr>
          <a:xfrm>
            <a:off x="7915175" y="2494525"/>
            <a:ext cx="0" cy="4137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2"/>
          <p:cNvSpPr txBox="1"/>
          <p:nvPr/>
        </p:nvSpPr>
        <p:spPr>
          <a:xfrm>
            <a:off x="7915175" y="2341525"/>
            <a:ext cx="10671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Add IND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226075" y="1465800"/>
            <a:ext cx="2808000" cy="27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Amount of mass above the star formation threshold is directly linked to the SFR.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CRs reduce the amount of star-forming gas.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IND decouples CRs from dense, neutral gas, allowing gas to reach star-forming densities with less resistance.</a:t>
            </a:r>
            <a:endParaRPr b="1" sz="1400"/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7403" y="152400"/>
            <a:ext cx="32419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Loading Factors</a:t>
            </a:r>
            <a:endParaRPr/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226075" y="1311200"/>
            <a:ext cx="2808000" cy="29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MHD case has the lowest mass-loading factors, and the outflow becomes very weak by |z|=3kpc.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SFRs are not different enough to explain the differences in mass loading factors.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Ion-neutral damping does not prevent CRs from expelling mass in the outflow.</a:t>
            </a:r>
            <a:endParaRPr b="1"/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000" y="152400"/>
            <a:ext cx="405241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Ion-neutral damping does not prevent CRs from providing effective feedback.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Ion-neutral damping reduces the effect of CRs on the SFR.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Full-physics CR-driven wind is primarily warm with moderate mass loading.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astro.brsike.com/aas2025</a:t>
            </a:r>
            <a:r>
              <a:rPr lang="en"/>
              <a:t> for slides and contact information</a:t>
            </a:r>
            <a:endParaRPr/>
          </a:p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102D53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26BE15"/>
      </a:accent2>
      <a:accent3>
        <a:srgbClr val="B311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