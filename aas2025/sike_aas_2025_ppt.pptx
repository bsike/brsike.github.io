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6858000" cy="9144000"/>
  <p:embeddedFontLst>
    <p:embeddedFont>
      <p:font typeface="Roboto"/>
      <p:regular r:id="rId18"/>
      <p:bold r:id="rId19"/>
      <p:italic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font" Target="fonts/Roboto-boldItalic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Roboto-bold.fntdata"/><Relationship Id="rId6" Type="http://schemas.openxmlformats.org/officeDocument/2006/relationships/slide" Target="slides/slide1.xml"/><Relationship Id="rId18" Type="http://schemas.openxmlformats.org/officeDocument/2006/relationships/font" Target="fonts/Roboto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2c94cf052f5_1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2c94cf052f5_1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6bcecb5f43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6bcecb5f43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2c94cf052f5_1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2c94cf052f5_1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c906df53b3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c906df53b3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6bcecb5f43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6bcecb5f43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0cd80f2646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0cd80f2646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26bcecb5f43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26bcecb5f43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2a85d7b334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2a85d7b334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0cd80f2646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0cd80f2646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0cd80f2646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0cd80f2646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0d30a0007a_0_2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0d30a0007a_0_2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26d7b8ec38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26d7b8ec38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fmla="val 16667" name="adj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 txBox="1"/>
          <p:nvPr>
            <p:ph type="ctrTitle"/>
          </p:nvPr>
        </p:nvSpPr>
        <p:spPr>
          <a:xfrm>
            <a:off x="390525" y="296250"/>
            <a:ext cx="8222100" cy="2456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b="1"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b="1"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b="1"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b="1"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b="1"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b="1"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b="1"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b="1"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b="1" sz="48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" name="Google Shape;15;p2"/>
          <p:cNvSpPr txBox="1"/>
          <p:nvPr>
            <p:ph idx="2" type="subTitle"/>
          </p:nvPr>
        </p:nvSpPr>
        <p:spPr>
          <a:xfrm>
            <a:off x="390525" y="3401380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i="1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i="1" sz="18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i="1" sz="18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i="1" sz="18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i="1" sz="18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i="1" sz="18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i="1" sz="18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i="1" sz="18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i="1" sz="18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b="1" sz="4200"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/>
          <p:nvPr/>
        </p:nvSpPr>
        <p:spPr>
          <a:xfrm flipH="1" rot="10800000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5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b="1"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5"/>
          <p:cNvSpPr txBox="1"/>
          <p:nvPr>
            <p:ph idx="2" type="body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 flipH="1" rot="10800000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6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/>
          <p:nvPr/>
        </p:nvSpPr>
        <p:spPr>
          <a:xfrm flipH="1" rot="10800000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7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b="1" sz="2400"/>
            </a:lvl9pPr>
          </a:lstStyle>
          <a:p/>
        </p:txBody>
      </p:sp>
      <p:sp>
        <p:nvSpPr>
          <p:cNvPr id="41" name="Google Shape;41;p7"/>
          <p:cNvSpPr txBox="1"/>
          <p:nvPr>
            <p:ph idx="1" type="body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2" name="Google Shape;42;p7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 txBox="1"/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b="1"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b="1"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b="1"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b="1"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b="1"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b="1"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b="1"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b="1"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b="1" sz="6000"/>
            </a:lvl9pPr>
          </a:lstStyle>
          <a:p/>
        </p:txBody>
      </p:sp>
      <p:sp>
        <p:nvSpPr>
          <p:cNvPr id="45" name="Google Shape;45;p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</p:txBody>
      </p:sp>
      <p:sp>
        <p:nvSpPr>
          <p:cNvPr id="48" name="Google Shape;48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50" name="Google Shape;50;p9"/>
          <p:cNvSpPr txBox="1"/>
          <p:nvPr>
            <p:ph idx="1" type="subTitle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1" name="Google Shape;51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/>
          <p:nvPr/>
        </p:nvSpPr>
        <p:spPr>
          <a:xfrm flipH="1" rot="10800000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0"/>
          <p:cNvSpPr/>
          <p:nvPr/>
        </p:nvSpPr>
        <p:spPr>
          <a:xfrm flipH="1" rot="10800000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4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hasCustomPrompt="1" type="title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chemeClr val="accent4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aterial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astro.brsike.com/aas2025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>
            <p:ph type="ctrTitle"/>
          </p:nvPr>
        </p:nvSpPr>
        <p:spPr>
          <a:xfrm>
            <a:off x="178600" y="282400"/>
            <a:ext cx="5054700" cy="3369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Too Hot, Too Cold, or Just Right? Simulating Cosmic Ray-Driven Galactic Winds with Resolved ISM and Ion-Neutral Damping</a:t>
            </a:r>
            <a:endParaRPr sz="3600"/>
          </a:p>
        </p:txBody>
      </p:sp>
      <p:sp>
        <p:nvSpPr>
          <p:cNvPr id="69" name="Google Shape;69;p13"/>
          <p:cNvSpPr txBox="1"/>
          <p:nvPr>
            <p:ph idx="1" type="subTitle"/>
          </p:nvPr>
        </p:nvSpPr>
        <p:spPr>
          <a:xfrm>
            <a:off x="230350" y="3730125"/>
            <a:ext cx="5103600" cy="94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/>
              <a:t>Brandon Sike</a:t>
            </a:r>
            <a:r>
              <a:rPr lang="en" sz="1100"/>
              <a:t> (UM), </a:t>
            </a:r>
            <a:r>
              <a:rPr lang="en" sz="1100"/>
              <a:t>Mateusz Ruszkowski (UM), </a:t>
            </a:r>
            <a:r>
              <a:rPr lang="en" sz="1100"/>
              <a:t>Christoph Pfrommer (AIP), Timon Thomas (AIP), Matthias Weber (AIP), Peng Oh (UCSB), Oleg Gnedin (UM), Bill Chen (UM), with funding from NSF, ACCESS, NASA, and UM</a:t>
            </a:r>
            <a:endParaRPr sz="1100"/>
          </a:p>
        </p:txBody>
      </p:sp>
      <p:sp>
        <p:nvSpPr>
          <p:cNvPr id="70" name="Google Shape;70;p13"/>
          <p:cNvSpPr txBox="1"/>
          <p:nvPr>
            <p:ph idx="2" type="subTitle"/>
          </p:nvPr>
        </p:nvSpPr>
        <p:spPr>
          <a:xfrm>
            <a:off x="154150" y="4675825"/>
            <a:ext cx="48183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/>
              <a:t>AAS 245 Winter; January 14, 2025</a:t>
            </a:r>
            <a:endParaRPr sz="800"/>
          </a:p>
        </p:txBody>
      </p:sp>
      <p:pic>
        <p:nvPicPr>
          <p:cNvPr id="71" name="Google Shape;71;p13"/>
          <p:cNvPicPr preferRelativeResize="0"/>
          <p:nvPr/>
        </p:nvPicPr>
        <p:blipFill rotWithShape="1">
          <a:blip r:embed="rId3">
            <a:alphaModFix/>
          </a:blip>
          <a:srcRect b="26185" l="0" r="0" t="25704"/>
          <a:stretch/>
        </p:blipFill>
        <p:spPr>
          <a:xfrm>
            <a:off x="5346650" y="0"/>
            <a:ext cx="1336425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72" name="Google Shape;72;p13"/>
          <p:cNvPicPr preferRelativeResize="0"/>
          <p:nvPr/>
        </p:nvPicPr>
        <p:blipFill rotWithShape="1">
          <a:blip r:embed="rId4">
            <a:alphaModFix/>
          </a:blip>
          <a:srcRect b="21955" l="56944" r="30324" t="29046"/>
          <a:stretch/>
        </p:blipFill>
        <p:spPr>
          <a:xfrm flipH="1">
            <a:off x="6822572" y="0"/>
            <a:ext cx="1336428" cy="51435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73" name="Google Shape;73;p13"/>
          <p:cNvCxnSpPr/>
          <p:nvPr/>
        </p:nvCxnSpPr>
        <p:spPr>
          <a:xfrm>
            <a:off x="408325" y="3671025"/>
            <a:ext cx="44271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Cosmic Rays in Galaxies</a:t>
            </a:r>
            <a:endParaRPr/>
          </a:p>
        </p:txBody>
      </p:sp>
      <p:sp>
        <p:nvSpPr>
          <p:cNvPr id="79" name="Google Shape;79;p14"/>
          <p:cNvSpPr txBox="1"/>
          <p:nvPr>
            <p:ph idx="1" type="body"/>
          </p:nvPr>
        </p:nvSpPr>
        <p:spPr>
          <a:xfrm>
            <a:off x="167100" y="1919075"/>
            <a:ext cx="4100100" cy="26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Relativistic, charged particles which behave as a fluid over galactic scales.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Equipartition with other energy densities in the ISM.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Provide a source of </a:t>
            </a:r>
            <a:r>
              <a:rPr b="1" lang="en" sz="1400"/>
              <a:t>pressure</a:t>
            </a:r>
            <a:r>
              <a:rPr lang="en" sz="1400"/>
              <a:t>, contribute to heating, drive molecular chemistry, trace magnetic field topology.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 sz="1400"/>
              <a:t>Notably, </a:t>
            </a:r>
            <a:r>
              <a:rPr b="1" lang="en" sz="1400"/>
              <a:t>cosmic rays can exchange momentum and energy with the gas</a:t>
            </a:r>
            <a:r>
              <a:rPr lang="en" sz="1400"/>
              <a:t> </a:t>
            </a:r>
            <a:r>
              <a:rPr b="1" lang="en" sz="1400"/>
              <a:t>over long time and distance scales.</a:t>
            </a:r>
            <a:endParaRPr sz="1400"/>
          </a:p>
        </p:txBody>
      </p:sp>
      <p:pic>
        <p:nvPicPr>
          <p:cNvPr id="80" name="Google Shape;8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36997" y="1817200"/>
            <a:ext cx="3155753" cy="2411525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14"/>
          <p:cNvSpPr txBox="1"/>
          <p:nvPr/>
        </p:nvSpPr>
        <p:spPr>
          <a:xfrm>
            <a:off x="5437000" y="4228725"/>
            <a:ext cx="3121800" cy="70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Ryden &amp; Pogge: Interstellar and Intergalactic Medium (2021) with data adapted from Draine (2011), with cosmic ray data from Voyager measurements (Webber &amp; Yushak 1983).</a:t>
            </a:r>
            <a:endParaRPr sz="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4"/>
          <p:cNvSpPr/>
          <p:nvPr/>
        </p:nvSpPr>
        <p:spPr>
          <a:xfrm>
            <a:off x="5482925" y="3652400"/>
            <a:ext cx="2672100" cy="2082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5"/>
          <p:cNvSpPr txBox="1"/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 Transport: Ion-neutral damping</a:t>
            </a:r>
            <a:endParaRPr/>
          </a:p>
        </p:txBody>
      </p:sp>
      <p:sp>
        <p:nvSpPr>
          <p:cNvPr id="89" name="Google Shape;89;p15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0" name="Google Shape;90;p15"/>
          <p:cNvSpPr txBox="1"/>
          <p:nvPr>
            <p:ph idx="4294967295" type="body"/>
          </p:nvPr>
        </p:nvSpPr>
        <p:spPr>
          <a:xfrm>
            <a:off x="460950" y="813797"/>
            <a:ext cx="8222100" cy="79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500"/>
              <a:t>Ion neutral damping (IND) is ~frictional loss from self-confining Alfvén waves by ion/neutral collisions. The loss of these self-confining Alfvén waves </a:t>
            </a:r>
            <a:r>
              <a:rPr b="1" lang="en" sz="1500"/>
              <a:t>decouples CRs from neutral regions</a:t>
            </a:r>
            <a:r>
              <a:rPr lang="en" sz="1500"/>
              <a:t>.</a:t>
            </a:r>
            <a:endParaRPr sz="1500"/>
          </a:p>
        </p:txBody>
      </p:sp>
      <p:pic>
        <p:nvPicPr>
          <p:cNvPr id="91" name="Google Shape;91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4800" y="2069025"/>
            <a:ext cx="3474675" cy="2541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01275" y="2069025"/>
            <a:ext cx="3474675" cy="25410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3" name="Google Shape;93;p15"/>
          <p:cNvCxnSpPr/>
          <p:nvPr/>
        </p:nvCxnSpPr>
        <p:spPr>
          <a:xfrm>
            <a:off x="3829600" y="3605500"/>
            <a:ext cx="13173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94" name="Google Shape;94;p15"/>
          <p:cNvSpPr txBox="1"/>
          <p:nvPr/>
        </p:nvSpPr>
        <p:spPr>
          <a:xfrm>
            <a:off x="3917675" y="3142763"/>
            <a:ext cx="11454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Add IND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5" name="Google Shape;95;p15"/>
          <p:cNvCxnSpPr/>
          <p:nvPr/>
        </p:nvCxnSpPr>
        <p:spPr>
          <a:xfrm>
            <a:off x="792150" y="2689750"/>
            <a:ext cx="803100" cy="142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6" name="Google Shape;96;p15"/>
          <p:cNvCxnSpPr/>
          <p:nvPr/>
        </p:nvCxnSpPr>
        <p:spPr>
          <a:xfrm flipH="1">
            <a:off x="2462700" y="2661325"/>
            <a:ext cx="895500" cy="149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7" name="Google Shape;97;p15"/>
          <p:cNvCxnSpPr/>
          <p:nvPr/>
        </p:nvCxnSpPr>
        <p:spPr>
          <a:xfrm>
            <a:off x="792150" y="3908950"/>
            <a:ext cx="803100" cy="1422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8" name="Google Shape;98;p15"/>
          <p:cNvCxnSpPr/>
          <p:nvPr/>
        </p:nvCxnSpPr>
        <p:spPr>
          <a:xfrm flipH="1">
            <a:off x="2462700" y="3880525"/>
            <a:ext cx="895500" cy="149400"/>
          </a:xfrm>
          <a:prstGeom prst="straightConnector1">
            <a:avLst/>
          </a:prstGeom>
          <a:noFill/>
          <a:ln cap="flat" cmpd="sng" w="9525">
            <a:solidFill>
              <a:schemeClr val="accent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9" name="Google Shape;99;p15"/>
          <p:cNvCxnSpPr/>
          <p:nvPr/>
        </p:nvCxnSpPr>
        <p:spPr>
          <a:xfrm>
            <a:off x="5668950" y="2689750"/>
            <a:ext cx="803100" cy="1422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0" name="Google Shape;100;p15"/>
          <p:cNvCxnSpPr/>
          <p:nvPr/>
        </p:nvCxnSpPr>
        <p:spPr>
          <a:xfrm flipH="1">
            <a:off x="7339500" y="2661325"/>
            <a:ext cx="895500" cy="14940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01" name="Google Shape;101;p15"/>
          <p:cNvSpPr txBox="1"/>
          <p:nvPr/>
        </p:nvSpPr>
        <p:spPr>
          <a:xfrm>
            <a:off x="6741700" y="3926575"/>
            <a:ext cx="454800" cy="3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endParaRPr sz="180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6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Questions:</a:t>
            </a:r>
            <a:endParaRPr/>
          </a:p>
        </p:txBody>
      </p:sp>
      <p:sp>
        <p:nvSpPr>
          <p:cNvPr id="107" name="Google Shape;107;p16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How does CR feedback affect the steady-state SFR and galactic outflow?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How do CRs interact with multiphase gas in the wind?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b="1" lang="en" u="sng"/>
              <a:t>Does ion-neutral damping prevent CRs from providing effective feedback?</a:t>
            </a:r>
            <a:endParaRPr b="1" u="sng"/>
          </a:p>
        </p:txBody>
      </p:sp>
      <p:sp>
        <p:nvSpPr>
          <p:cNvPr id="108" name="Google Shape;108;p16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7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Simulation Model: ISM Tallbox</a:t>
            </a:r>
            <a:endParaRPr/>
          </a:p>
        </p:txBody>
      </p:sp>
      <p:sp>
        <p:nvSpPr>
          <p:cNvPr id="114" name="Google Shape;114;p17"/>
          <p:cNvSpPr txBox="1"/>
          <p:nvPr>
            <p:ph idx="1" type="body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Use AREPO (Springel 2010)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1 kpc * 1 kpc * 8 kpc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Σgas = 10 Msun / pc^2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10 Msun resolution in the ISM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~3 pc resolution in the wind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Live MHD, stellar feedback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Nonequilibrium ionization model CRISP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"/>
              <a:t>Two-moment CR transport model following self-confined behavior</a:t>
            </a:r>
            <a:endParaRPr/>
          </a:p>
        </p:txBody>
      </p:sp>
      <p:grpSp>
        <p:nvGrpSpPr>
          <p:cNvPr id="115" name="Google Shape;115;p17"/>
          <p:cNvGrpSpPr/>
          <p:nvPr/>
        </p:nvGrpSpPr>
        <p:grpSpPr>
          <a:xfrm>
            <a:off x="7303650" y="160050"/>
            <a:ext cx="1327425" cy="4823400"/>
            <a:chOff x="7608450" y="160050"/>
            <a:chExt cx="1327425" cy="4823400"/>
          </a:xfrm>
        </p:grpSpPr>
        <p:sp>
          <p:nvSpPr>
            <p:cNvPr id="116" name="Google Shape;116;p17"/>
            <p:cNvSpPr/>
            <p:nvPr/>
          </p:nvSpPr>
          <p:spPr>
            <a:xfrm>
              <a:off x="7608450" y="2467650"/>
              <a:ext cx="1327200" cy="203400"/>
            </a:xfrm>
            <a:prstGeom prst="parallelogram">
              <a:avLst>
                <a:gd fmla="val 171687" name="adj"/>
              </a:avLst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17" name="Google Shape;117;p17"/>
            <p:cNvSpPr/>
            <p:nvPr/>
          </p:nvSpPr>
          <p:spPr>
            <a:xfrm>
              <a:off x="7608450" y="355700"/>
              <a:ext cx="980400" cy="2307600"/>
            </a:xfrm>
            <a:prstGeom prst="rect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18" name="Google Shape;118;p17"/>
            <p:cNvCxnSpPr/>
            <p:nvPr/>
          </p:nvCxnSpPr>
          <p:spPr>
            <a:xfrm rot="10800000">
              <a:off x="8935650" y="160050"/>
              <a:ext cx="0" cy="23076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9" name="Google Shape;119;p17"/>
            <p:cNvCxnSpPr/>
            <p:nvPr/>
          </p:nvCxnSpPr>
          <p:spPr>
            <a:xfrm rot="10800000">
              <a:off x="7960225" y="160050"/>
              <a:ext cx="0" cy="23076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dash"/>
              <a:round/>
              <a:headEnd len="med" w="med" type="none"/>
              <a:tailEnd len="med" w="med" type="none"/>
            </a:ln>
          </p:spPr>
        </p:cxnSp>
        <p:sp>
          <p:nvSpPr>
            <p:cNvPr id="120" name="Google Shape;120;p17"/>
            <p:cNvSpPr/>
            <p:nvPr/>
          </p:nvSpPr>
          <p:spPr>
            <a:xfrm>
              <a:off x="7608450" y="160050"/>
              <a:ext cx="1327200" cy="203400"/>
            </a:xfrm>
            <a:prstGeom prst="parallelogram">
              <a:avLst>
                <a:gd fmla="val 171687" name="adj"/>
              </a:avLst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21" name="Google Shape;121;p17"/>
            <p:cNvSpPr/>
            <p:nvPr/>
          </p:nvSpPr>
          <p:spPr>
            <a:xfrm>
              <a:off x="7608450" y="2663300"/>
              <a:ext cx="980400" cy="2307600"/>
            </a:xfrm>
            <a:prstGeom prst="rect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22" name="Google Shape;122;p17"/>
            <p:cNvCxnSpPr/>
            <p:nvPr/>
          </p:nvCxnSpPr>
          <p:spPr>
            <a:xfrm rot="10800000">
              <a:off x="8935650" y="2467650"/>
              <a:ext cx="0" cy="23076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23" name="Google Shape;123;p17"/>
            <p:cNvCxnSpPr/>
            <p:nvPr/>
          </p:nvCxnSpPr>
          <p:spPr>
            <a:xfrm rot="10800000">
              <a:off x="7960225" y="2467650"/>
              <a:ext cx="0" cy="23076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dash"/>
              <a:round/>
              <a:headEnd len="med" w="med" type="none"/>
              <a:tailEnd len="med" w="med" type="none"/>
            </a:ln>
          </p:spPr>
        </p:cxnSp>
        <p:cxnSp>
          <p:nvCxnSpPr>
            <p:cNvPr id="124" name="Google Shape;124;p17"/>
            <p:cNvCxnSpPr/>
            <p:nvPr/>
          </p:nvCxnSpPr>
          <p:spPr>
            <a:xfrm flipH="1" rot="10800000">
              <a:off x="8588775" y="4769675"/>
              <a:ext cx="347100" cy="2082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25" name="Google Shape;125;p17"/>
            <p:cNvCxnSpPr/>
            <p:nvPr/>
          </p:nvCxnSpPr>
          <p:spPr>
            <a:xfrm flipH="1" rot="10800000">
              <a:off x="7608450" y="4775250"/>
              <a:ext cx="347100" cy="20820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dash"/>
              <a:round/>
              <a:headEnd len="med" w="med" type="none"/>
              <a:tailEnd len="med" w="med" type="none"/>
            </a:ln>
          </p:spPr>
        </p:cxnSp>
        <p:cxnSp>
          <p:nvCxnSpPr>
            <p:cNvPr id="126" name="Google Shape;126;p17"/>
            <p:cNvCxnSpPr/>
            <p:nvPr/>
          </p:nvCxnSpPr>
          <p:spPr>
            <a:xfrm>
              <a:off x="7964125" y="4778350"/>
              <a:ext cx="971700" cy="0"/>
            </a:xfrm>
            <a:prstGeom prst="straightConnector1">
              <a:avLst/>
            </a:prstGeom>
            <a:noFill/>
            <a:ln cap="flat" cmpd="sng" w="38100">
              <a:solidFill>
                <a:schemeClr val="dk2"/>
              </a:solidFill>
              <a:prstDash val="dash"/>
              <a:round/>
              <a:headEnd len="med" w="med" type="none"/>
              <a:tailEnd len="med" w="med" type="none"/>
            </a:ln>
          </p:spPr>
        </p:cxnSp>
      </p:grpSp>
      <p:pic>
        <p:nvPicPr>
          <p:cNvPr id="127" name="Google Shape;127;p17"/>
          <p:cNvPicPr preferRelativeResize="0"/>
          <p:nvPr/>
        </p:nvPicPr>
        <p:blipFill rotWithShape="1">
          <a:blip r:embed="rId3">
            <a:alphaModFix/>
          </a:blip>
          <a:srcRect b="17908" l="11371" r="15029" t="7719"/>
          <a:stretch/>
        </p:blipFill>
        <p:spPr>
          <a:xfrm>
            <a:off x="3973400" y="680488"/>
            <a:ext cx="2567949" cy="2637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7"/>
          <p:cNvPicPr preferRelativeResize="0"/>
          <p:nvPr/>
        </p:nvPicPr>
        <p:blipFill rotWithShape="1">
          <a:blip r:embed="rId4">
            <a:alphaModFix/>
          </a:blip>
          <a:srcRect b="14275" l="0" r="0" t="13334"/>
          <a:stretch/>
        </p:blipFill>
        <p:spPr>
          <a:xfrm>
            <a:off x="3973400" y="3722333"/>
            <a:ext cx="2567949" cy="740679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/>
          <p:nvPr/>
        </p:nvSpPr>
        <p:spPr>
          <a:xfrm>
            <a:off x="5665125" y="2176350"/>
            <a:ext cx="273900" cy="2700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5760550" y="3808550"/>
            <a:ext cx="178500" cy="5901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" name="Google Shape;131;p17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2" name="Google Shape;132;p17"/>
          <p:cNvSpPr txBox="1"/>
          <p:nvPr/>
        </p:nvSpPr>
        <p:spPr>
          <a:xfrm>
            <a:off x="3973400" y="3317850"/>
            <a:ext cx="2568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Face-on spiral galaxy NGC 3982, NASA, ESA, and the Hubble Heritage Team (STScI/AURA)</a:t>
            </a:r>
            <a:endParaRPr sz="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3" name="Google Shape;133;p17"/>
          <p:cNvSpPr txBox="1"/>
          <p:nvPr/>
        </p:nvSpPr>
        <p:spPr>
          <a:xfrm>
            <a:off x="3973375" y="4473900"/>
            <a:ext cx="25680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Edge-on spiral galaxy NGC 5907, ESA/Hubble &amp; NASA, R. de Jong. Acknowledgement: Judy Schmidt (Geckzilla)</a:t>
            </a:r>
            <a:endParaRPr sz="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8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 Cases</a:t>
            </a:r>
            <a:endParaRPr/>
          </a:p>
        </p:txBody>
      </p:sp>
      <p:sp>
        <p:nvSpPr>
          <p:cNvPr id="139" name="Google Shape;139;p18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(“MHD”): No CRs</a:t>
            </a:r>
            <a:endParaRPr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(“CRMHD”): Add CRs with </a:t>
            </a:r>
            <a:r>
              <a:rPr b="1" lang="en"/>
              <a:t>u</a:t>
            </a:r>
            <a:r>
              <a:rPr b="1" lang="en"/>
              <a:t>niform coupling of CRs to gas.</a:t>
            </a:r>
            <a:endParaRPr b="1"/>
          </a:p>
          <a:p>
            <a:pPr indent="-3429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(“CRMHD+IND”): Add ion-neutral damping; </a:t>
            </a:r>
            <a:r>
              <a:rPr b="1" lang="en"/>
              <a:t>CRs decouple from neutral gas.</a:t>
            </a:r>
            <a:endParaRPr b="1"/>
          </a:p>
        </p:txBody>
      </p:sp>
      <p:sp>
        <p:nvSpPr>
          <p:cNvPr id="140" name="Google Shape;140;p18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9"/>
          <p:cNvSpPr txBox="1"/>
          <p:nvPr>
            <p:ph type="title"/>
          </p:nvPr>
        </p:nvSpPr>
        <p:spPr>
          <a:xfrm>
            <a:off x="460950" y="769950"/>
            <a:ext cx="8222100" cy="1012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46" name="Google Shape;146;p19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47" name="Google Shape;14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35725"/>
            <a:ext cx="7873150" cy="2096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" y="4328575"/>
            <a:ext cx="5867400" cy="47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 txBox="1"/>
          <p:nvPr>
            <p:ph idx="1" type="body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Produce a variety of multiphase galactic winds and ISMs.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Immediate visual differences between the three cases, primarily in the wind but also in the ISM.</a:t>
            </a:r>
            <a:endParaRPr/>
          </a:p>
        </p:txBody>
      </p:sp>
      <p:sp>
        <p:nvSpPr>
          <p:cNvPr id="154" name="Google Shape;154;p20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2"/>
                </a:solidFill>
              </a:rPr>
              <a:t>‹#›</a:t>
            </a:fld>
            <a:endParaRPr>
              <a:solidFill>
                <a:schemeClr val="lt2"/>
              </a:solidFill>
            </a:endParaRPr>
          </a:p>
        </p:txBody>
      </p:sp>
      <p:sp>
        <p:nvSpPr>
          <p:cNvPr id="155" name="Google Shape;155;p20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Slices</a:t>
            </a:r>
            <a:endParaRPr/>
          </a:p>
        </p:txBody>
      </p:sp>
      <p:pic>
        <p:nvPicPr>
          <p:cNvPr id="156" name="Google Shape;15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1975" y="0"/>
            <a:ext cx="4676366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1"/>
          <p:cNvSpPr txBox="1"/>
          <p:nvPr>
            <p:ph idx="1" type="body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MHD is the hottest; supernovae-driven.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CRs in CRMHD can couple to cold gas in the wind, CRs in CRMHD+IND cannot.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b="1" lang="en"/>
              <a:t>CRs make the wind colder, IND</a:t>
            </a:r>
            <a:r>
              <a:rPr b="1" lang="en"/>
              <a:t> makes the wind moderately warmer</a:t>
            </a:r>
            <a:r>
              <a:rPr lang="en"/>
              <a:t>.</a:t>
            </a:r>
            <a:endParaRPr/>
          </a:p>
        </p:txBody>
      </p:sp>
      <p:sp>
        <p:nvSpPr>
          <p:cNvPr id="162" name="Google Shape;162;p21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lt2"/>
                </a:solidFill>
              </a:rPr>
              <a:t>‹#›</a:t>
            </a:fld>
            <a:endParaRPr>
              <a:solidFill>
                <a:schemeClr val="lt2"/>
              </a:solidFill>
            </a:endParaRPr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Temperature Profiles</a:t>
            </a:r>
            <a:endParaRPr/>
          </a:p>
        </p:txBody>
      </p:sp>
      <p:pic>
        <p:nvPicPr>
          <p:cNvPr id="164" name="Google Shape;16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67475" y="152400"/>
            <a:ext cx="5065514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2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 Forming Conditions</a:t>
            </a:r>
            <a:endParaRPr/>
          </a:p>
        </p:txBody>
      </p:sp>
      <p:sp>
        <p:nvSpPr>
          <p:cNvPr id="170" name="Google Shape;170;p22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71" name="Google Shape;17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66100" y="1029550"/>
            <a:ext cx="1898174" cy="1388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66100" y="2908234"/>
            <a:ext cx="1898174" cy="138816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3" name="Google Shape;173;p22"/>
          <p:cNvCxnSpPr>
            <a:stCxn id="174" idx="1"/>
            <a:endCxn id="172" idx="0"/>
          </p:cNvCxnSpPr>
          <p:nvPr/>
        </p:nvCxnSpPr>
        <p:spPr>
          <a:xfrm>
            <a:off x="7915175" y="2494525"/>
            <a:ext cx="0" cy="41370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74" name="Google Shape;174;p22"/>
          <p:cNvSpPr txBox="1"/>
          <p:nvPr/>
        </p:nvSpPr>
        <p:spPr>
          <a:xfrm>
            <a:off x="7915175" y="2341525"/>
            <a:ext cx="1067100" cy="3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Add IND</a:t>
            </a:r>
            <a:endParaRPr sz="180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22"/>
          <p:cNvSpPr txBox="1"/>
          <p:nvPr>
            <p:ph idx="1" type="body"/>
          </p:nvPr>
        </p:nvSpPr>
        <p:spPr>
          <a:xfrm>
            <a:off x="226075" y="1465800"/>
            <a:ext cx="2808000" cy="274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Amount of mass above the star formation threshold is directly linked to the SFR.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CRs reduce the amount of star-forming gas.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 sz="1400"/>
              <a:t>IND decouples CRs from dense, neutral gas, allowing gas to reach star-forming densities with less resistance.</a:t>
            </a:r>
            <a:endParaRPr b="1" sz="1400"/>
          </a:p>
        </p:txBody>
      </p:sp>
      <p:pic>
        <p:nvPicPr>
          <p:cNvPr id="176" name="Google Shape;176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587403" y="152400"/>
            <a:ext cx="3241929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 txBox="1"/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Mass Loading Factors</a:t>
            </a:r>
            <a:endParaRPr/>
          </a:p>
        </p:txBody>
      </p:sp>
      <p:sp>
        <p:nvSpPr>
          <p:cNvPr id="182" name="Google Shape;182;p23"/>
          <p:cNvSpPr txBox="1"/>
          <p:nvPr>
            <p:ph idx="1" type="body"/>
          </p:nvPr>
        </p:nvSpPr>
        <p:spPr>
          <a:xfrm>
            <a:off x="226075" y="1311200"/>
            <a:ext cx="2808000" cy="294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MHD case has the lowest mass-loading factors, and the outflow becomes very weak by |z|=3kpc.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SFRs are not different enough to explain the differences in mass loading factors.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b="1" lang="en"/>
              <a:t>Ion-neutral damping does not prevent CRs from expelling mass in the outflow.</a:t>
            </a:r>
            <a:endParaRPr b="1"/>
          </a:p>
        </p:txBody>
      </p:sp>
      <p:sp>
        <p:nvSpPr>
          <p:cNvPr id="183" name="Google Shape;183;p23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84" name="Google Shape;184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9000" y="152400"/>
            <a:ext cx="4052411" cy="4838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0213" y="3802725"/>
            <a:ext cx="1939737" cy="95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4"/>
          <p:cNvSpPr txBox="1"/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1" name="Google Shape;191;p24"/>
          <p:cNvSpPr txBox="1"/>
          <p:nvPr>
            <p:ph idx="1" type="body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b="1" lang="en"/>
              <a:t>Ion-neutral damping does not prevent CRs from providing effective feedback.</a:t>
            </a:r>
            <a:endParaRPr b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Ion-neutral damping reduces the effect of CRs on the SFR.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Full-physics CR-driven wind is primarily warm with moderate mass loading.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astro.brsike.com/aas2025</a:t>
            </a:r>
            <a:r>
              <a:rPr lang="en"/>
              <a:t> for slides and contact information</a:t>
            </a:r>
            <a:endParaRPr/>
          </a:p>
        </p:txBody>
      </p:sp>
      <p:sp>
        <p:nvSpPr>
          <p:cNvPr id="192" name="Google Shape;192;p24"/>
          <p:cNvSpPr txBox="1"/>
          <p:nvPr>
            <p:ph idx="12" type="sldNum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Material">
  <a:themeElements>
    <a:clrScheme name="Material">
      <a:dk1>
        <a:srgbClr val="102D53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26BE15"/>
      </a:accent2>
      <a:accent3>
        <a:srgbClr val="B31137"/>
      </a:accent3>
      <a:accent4>
        <a:srgbClr val="FAFAFA"/>
      </a:accent4>
      <a:accent5>
        <a:srgbClr val="4FC3F7"/>
      </a:accent5>
      <a:accent6>
        <a:srgbClr val="F4B400"/>
      </a:accent6>
      <a:hlink>
        <a:srgbClr val="4FC3F7"/>
      </a:hlink>
      <a:folHlink>
        <a:srgbClr val="4FC3F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